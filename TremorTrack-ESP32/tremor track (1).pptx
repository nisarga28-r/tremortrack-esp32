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9" r:id="rId3"/>
    <p:sldId id="260" r:id="rId4"/>
    <p:sldId id="258" r:id="rId5"/>
    <p:sldId id="261" r:id="rId6"/>
    <p:sldId id="262" r:id="rId7"/>
    <p:sldId id="263" r:id="rId8"/>
    <p:sldId id="264" r:id="rId9"/>
    <p:sldId id="271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8BE5FC9-8379-F28F-1D43-5814104F78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SEEDBRAINS 2.0                                                                                   CHOSS,CIT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5FBF8A-10BB-9EBA-EDF9-86765A4587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F4B71-BD91-4EE8-9DA9-BAB0371A8E41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AB1443-EAFC-0B1F-539C-ADC8550584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41D46-5D41-3A49-B703-2915270A44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C55D65-19BF-40D3-A386-E6391BBE50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039420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SEEDBRAINS 2.0                                                                                   CHOSS,CIT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84A8A-2C59-4708-BE29-A74892F1984B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C1DC4-B557-4009-999E-92A693A15A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249477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EDBRAINS2.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85E804-CBFE-5484-6A9A-7ADA04D1B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FF01FC5-AB7F-1BFF-D5B9-46A9ADA8B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1816102"/>
            <a:ext cx="11449050" cy="123507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74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9D357-5985-C9D5-CC4E-084F1313B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24065-5761-97F3-942B-B1D9A1C33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4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C1983-20D4-C26B-8DBA-1C1F2EAA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6B90C-A349-24E4-474C-DE84B7CB0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213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25B87-7CB0-74A8-439A-F37939465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CD18E-AA23-9465-67D6-F8923580F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C19D4-06CF-FCEC-EA04-00D6513E2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185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999E3-A9B6-8CA6-7A97-7A3311077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475" y="352425"/>
            <a:ext cx="9667876" cy="13382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11CB0-8EEE-8FFF-0452-DE5E7A7EA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3475" y="1690687"/>
            <a:ext cx="4864100" cy="8143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A2156-021C-49AB-A41A-C415E14C6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3475" y="2505074"/>
            <a:ext cx="4864100" cy="37703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C5AB0-5514-32BE-25FE-A06EE01472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90687"/>
            <a:ext cx="4629151" cy="8143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67B4E1-3D18-1A6F-55B9-F5AC400F4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4629151" cy="37703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584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0D07-8491-001C-4A22-427D1056C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286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855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FB9EA-5CC6-40B6-0ED5-B96FE1C0E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1133475"/>
            <a:ext cx="3897313" cy="148756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02722-0931-E185-DC2C-CC9B51D9D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1738" y="113347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E75DD-508C-A045-3854-337ED6E6C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733675"/>
            <a:ext cx="3897313" cy="35433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405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0889A-249D-FE3A-8750-9120764C4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318" y="1209674"/>
            <a:ext cx="3872707" cy="9810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8CA9BF-E8A8-5C3B-6595-FB788388BA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40337" y="1209674"/>
            <a:ext cx="6275387" cy="505777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1F011F-8E36-99A9-0F64-528849824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9318" y="245586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950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1E8FB-5D1E-6902-7B58-1167A5D91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8EAAC-8B4B-87C7-24AA-3DDA40A19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028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42CB37-E774-6682-593A-61AB8528F1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72524" y="1095373"/>
            <a:ext cx="2581275" cy="508158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E1B66A-8126-2D84-7E29-6713943F4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5375"/>
            <a:ext cx="7734300" cy="5081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11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BB2C13-62C9-D205-18E1-BE6115FAA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534" y="1038224"/>
            <a:ext cx="10410825" cy="73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D9698-3FF7-DD1D-11D9-424CE1678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6534" y="1885949"/>
            <a:ext cx="10410825" cy="4029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450729-7222-A932-1E74-EF8DA3AE12F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98" y="5948570"/>
            <a:ext cx="2764653" cy="7837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BC4C3D-2A4D-3340-EE28-7373C0A7D7C0}"/>
              </a:ext>
            </a:extLst>
          </p:cNvPr>
          <p:cNvSpPr txBox="1"/>
          <p:nvPr userDrawn="1"/>
        </p:nvSpPr>
        <p:spPr>
          <a:xfrm>
            <a:off x="7200900" y="6385570"/>
            <a:ext cx="4848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SEEDBRAINS 5.0 INNOVATION AWARDS’26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332" y="172733"/>
            <a:ext cx="7979227" cy="78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266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E2B5B-3A07-FFF7-2147-80E73BFFEC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754" y="1432914"/>
            <a:ext cx="9848491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TremorTrack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Low-Cost Parkinson’s Disease Hand Tremor Monitoring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384A1A-FA89-14EA-99D7-076CFCF1DF0B}"/>
              </a:ext>
            </a:extLst>
          </p:cNvPr>
          <p:cNvSpPr txBox="1"/>
          <p:nvPr/>
        </p:nvSpPr>
        <p:spPr>
          <a:xfrm>
            <a:off x="379901" y="3752491"/>
            <a:ext cx="114472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Lochan</a:t>
            </a:r>
          </a:p>
          <a:p>
            <a:endParaRPr lang="en-IN" dirty="0"/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Lochan Reddy R            1BI24EC069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Manya V                         1BI24EC076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Nisarga R                        1BI24EC090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33CBC-F924-AC29-AA6E-A8136E2B0DCB}"/>
              </a:ext>
            </a:extLst>
          </p:cNvPr>
          <p:cNvSpPr txBox="1"/>
          <p:nvPr/>
        </p:nvSpPr>
        <p:spPr>
          <a:xfrm>
            <a:off x="7582619" y="5506817"/>
            <a:ext cx="4162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electronics and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85783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872741-3048-E5D7-2C8A-B4A672CBEB2C}"/>
              </a:ext>
            </a:extLst>
          </p:cNvPr>
          <p:cNvSpPr txBox="1"/>
          <p:nvPr/>
        </p:nvSpPr>
        <p:spPr>
          <a:xfrm>
            <a:off x="293298" y="1147313"/>
            <a:ext cx="1166291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Monitoring hand tremors in Parkinson's Disease (PD) patients is currently subjective, intermittent, and clinic-dependent. Tremor severity fluctuates heavily throughout the day based on fatigue, stress, and medication cycles ("On/Off" periods). Because evaluation only happens during periodic hospital visits, there is a critical lack of affordable, real-time tracking solutions outside the hospital. This makes it highly difficult to track long-term disease progression and optimize daily pharmaceutical dosages accurately.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731326-C9E7-D079-3E32-FAB2BE1530BD}"/>
              </a:ext>
            </a:extLst>
          </p:cNvPr>
          <p:cNvSpPr txBox="1"/>
          <p:nvPr/>
        </p:nvSpPr>
        <p:spPr>
          <a:xfrm>
            <a:off x="293298" y="3429000"/>
            <a:ext cx="1166291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build an affordable, standalone engineering solution that shifts objective Parkinsonian symptom monitoring from the clinic straight to the patient's home environment.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621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4936E-E4A3-8125-1F84-BCDA50D02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264" y="1915064"/>
            <a:ext cx="11257471" cy="3847382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Subjectivity: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vague descriptions ("my hand feels shakier today") with an empirical, quantifiable scale (0–10) that gives both the patient and doctor a precise baseline.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Medication Efficacy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patients accurately log how well their medication is managing their tremors throughout the day, removing the anxiety of guesswork. 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Deterioration Warning: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upward trends in daily home data can flag rapid progression or medication tolerance issues early, allowing for timely medical interventions before a severe motor crisis occurs.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555113-0E5E-1B37-6899-FBA8930BCC5E}"/>
              </a:ext>
            </a:extLst>
          </p:cNvPr>
          <p:cNvSpPr txBox="1"/>
          <p:nvPr/>
        </p:nvSpPr>
        <p:spPr>
          <a:xfrm>
            <a:off x="467264" y="1165000"/>
            <a:ext cx="84538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PAIN POINT ADDRESSED</a:t>
            </a:r>
          </a:p>
        </p:txBody>
      </p:sp>
    </p:spTree>
    <p:extLst>
      <p:ext uri="{BB962C8B-B14F-4D97-AF65-F5344CB8AC3E}">
        <p14:creationId xmlns:p14="http://schemas.microsoft.com/office/powerpoint/2010/main" val="1698191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1D78D-CF3B-4031-D5F7-C7F61B7AA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890" y="1923690"/>
            <a:ext cx="11240219" cy="43795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Objective-to-Digital Mapping: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Translates physical, multidimensional Parkinsonian motor symptoms directly into a clear digital score (0–10) in real time.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Standalone Tracking: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native on-board memory routines to store, access, and cross-reference a patient's historical tremor data completely offline.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Trend Evaluation: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firmware automatically compares the current session against a saved baseline to instantly output a progressive trend direction (Increasing / Decreasing / No Change).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A4BD06-7B22-BD9F-85AD-778FE2AAB04B}"/>
              </a:ext>
            </a:extLst>
          </p:cNvPr>
          <p:cNvSpPr txBox="1"/>
          <p:nvPr/>
        </p:nvSpPr>
        <p:spPr>
          <a:xfrm>
            <a:off x="475890" y="1138688"/>
            <a:ext cx="53138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ABOUT THE INNOVATIVENESS</a:t>
            </a:r>
          </a:p>
        </p:txBody>
      </p:sp>
    </p:spTree>
    <p:extLst>
      <p:ext uri="{BB962C8B-B14F-4D97-AF65-F5344CB8AC3E}">
        <p14:creationId xmlns:p14="http://schemas.microsoft.com/office/powerpoint/2010/main" val="944446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D93C2-E057-21B9-6846-786EAC186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CB19B-DD4B-57FA-5A61-ABDC94D93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responsive microcontrollers and high-precision I2C communication protocols capable of handling micro-motion acceleration variables seamlessly with near-zero computation latency.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Feasibility: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completely using widely available consumer electronics components, reducing the bill of materials significantly compared to expensive clinical diagnostics. This bridges the economic gap for low-income populations.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9767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F7101-6D9B-3BAA-AADE-9B200DB4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73241-477A-339E-759A-86BC34273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compact, portable device that intercepts physical hand tremors via an inertial measurement unit, processes the frequency fluctuations over a set timeline, and prints out a definitive assessment.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Control Interface (Single Button):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Press:  Toggles measurement loops on or off. Upon stopping, the value is saved as the baseline.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 Press (2 Seconds): Instantly flushes the system cache, resetting all previous data points.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Information Output (LCD Screen) And the remote diagnosis: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current tremor level, saved baseline value, current trend direction, and an explicit clinical status classification (Stable / Moderate / Severe) and also displays the trends on a webpage.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455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BF656-4CF9-1B59-C1D5-CEBF9E7D2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COMMERCIAL VIABILITY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E6736-8F8E-09AE-F5B8-8A8A6FD7E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aging global population where Parkinson’s Disease and related neurodegenerative motor disorders are growing rapidly.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Position: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Positioned as an essential, hyper-affordable everyday home monitoring utility. It acts as a continuous data-bridge between periodic neurological consultations.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314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1F016-C1EE-DD42-2640-3192AC651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1AB28-9B9A-0DB8-6CB8-89A94FDFC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Domains: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Embedded Engineering, Real-Time Signal Processing, Inertial Measurement.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Hardware Stack: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Microcontroller:  ESP32 (Handles dual-core data computation and logic profiling).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Unit: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MPU6050 (High-accuracy integrated 3-axis accelerometer and gyroscope to track rapid physical shaking).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Unit: 16x2 LCD Display for a high-contrast, patient-friendly UI.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Switch: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tactile push-button designed for easy use by individuals experiencing motor control issues.</a:t>
            </a:r>
          </a:p>
        </p:txBody>
      </p:sp>
    </p:spTree>
    <p:extLst>
      <p:ext uri="{BB962C8B-B14F-4D97-AF65-F5344CB8AC3E}">
        <p14:creationId xmlns:p14="http://schemas.microsoft.com/office/powerpoint/2010/main" val="2870814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E2652-1E0C-43FA-67C4-CAF1C905C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534" y="1038224"/>
            <a:ext cx="10410825" cy="45719"/>
          </a:xfrm>
        </p:spPr>
        <p:txBody>
          <a:bodyPr>
            <a:normAutofit fontScale="90000"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18130-4AAB-AC11-CBF5-92E5F4AF9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534" y="1038225"/>
            <a:ext cx="10410825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Companion App (Mobile Gateway)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Heading: Patient Companion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Bullet Points:</a:t>
            </a:r>
          </a:p>
          <a:p>
            <a:endParaRPr lang="en-US" dirty="0"/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Pairs via Bluetooth to fetch local scores from the hardware.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localized digital diary for the patient.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Syncs data automatically to a secure cloud database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8591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6BB1B-22A9-E0BB-DB64-9A8332146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CARRIED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CC642-C5BF-B65C-0A71-ED381550D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 Frequency Analysis: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Researched the distinct frequency profiles of Parkinson's rest tremors (typically resting between 4–6 Hz) to distinguish them from standard physiological hand movements or noise.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mathematical variance calculations required to map raw, volatile spatial acceleration vector streams (x, y, z) into stable, intuitive 0–10 integers.</a:t>
            </a:r>
          </a:p>
        </p:txBody>
      </p:sp>
    </p:spTree>
    <p:extLst>
      <p:ext uri="{BB962C8B-B14F-4D97-AF65-F5344CB8AC3E}">
        <p14:creationId xmlns:p14="http://schemas.microsoft.com/office/powerpoint/2010/main" val="2850727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0A4B7-1632-8BEC-6915-C9BFF8A38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PROTOTYPE/ POC DEVELOPED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D9D37-78DA-E525-ECBC-868BE20E2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Functional Workflow:</a:t>
            </a:r>
          </a:p>
          <a:p>
            <a:pPr marL="514350" indent="-514350"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boots into a low-power, idle state.</a:t>
            </a:r>
          </a:p>
          <a:p>
            <a:pPr marL="514350" indent="-514350"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clicks the tracking button        MPU6050 begins logging continuous spatial movement data.</a:t>
            </a:r>
          </a:p>
          <a:p>
            <a:pPr marL="514350" indent="-514350"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loops calculate variance thresholds (higher mechanical fluctuations output a higher numerical score).</a:t>
            </a:r>
          </a:p>
          <a:p>
            <a:pPr marL="514350" indent="-514350"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press stops the routine, locks the value in memory as a baseline, and automatically runs comparative matches against future cycles to display the directional disease trend.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is also displayed on an online webpage for remote clinical diagnosis.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B13B7A1-859E-E8D7-4702-32C464C05BC3}"/>
              </a:ext>
            </a:extLst>
          </p:cNvPr>
          <p:cNvSpPr/>
          <p:nvPr/>
        </p:nvSpPr>
        <p:spPr>
          <a:xfrm>
            <a:off x="4796287" y="2794958"/>
            <a:ext cx="215660" cy="86265"/>
          </a:xfrm>
          <a:prstGeom prst="rightArrow">
            <a:avLst>
              <a:gd name="adj1" fmla="val 50000"/>
              <a:gd name="adj2" fmla="val 4142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914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46F56-384C-8BE0-6464-B0DBF8388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587" y="1038224"/>
            <a:ext cx="10410825" cy="738188"/>
          </a:xfrm>
        </p:spPr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FOR PATENTABILITY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90371-3395-16D0-1150-F672BC0E5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0587" y="1776412"/>
            <a:ext cx="10410825" cy="44027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Utility Framework: 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patentability or utility scope focuses not on complex mathematical filtering, but on the specific hardware-firmware workflow that turns an ultra-low-cost, standard motion sensor into a standalone comparative monitoring system integrating hardware and software via a webpage.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Delta-Tracking Logic: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novelty lies in the lightweight code layout that allows a basic microcontroller to:</a:t>
            </a:r>
          </a:p>
          <a:p>
            <a:pPr marL="514350" indent="-514350"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a real-time data session.</a:t>
            </a:r>
          </a:p>
          <a:p>
            <a:pPr marL="514350" indent="-514350"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that specific session value as a local baseline.</a:t>
            </a:r>
          </a:p>
          <a:p>
            <a:pPr marL="514350" indent="-514350"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an automatic mathematical comparison (current reading minus saved baseline) to instantly output a progressive trend direction (Increasing / Decreasing / Stable) directly on an affordable 16x2 LCD display.</a:t>
            </a:r>
          </a:p>
          <a:p>
            <a:pPr marL="514350" indent="-514350"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this on a remote online platform for clinical evaluation. 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Accessibility Design:  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Packaging this entire tracking and comparison loop into a single-button user interface designed specifically for Parkinson's home care utility.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887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BFCAA-E175-1A31-D266-5A63FB4C8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A16B8-625F-8386-22FB-1891B498E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Data Telemetry: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integrated Wi-Fi or Bluetooth protocols to auto-sync daily home monitoring data directly with secure medical cloud records for remote hospital access.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Factor Optimization: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Redesigning the desktop prototype layout onto a custom micro-PCB and integrating it into an ergonomic, wearable wristband or a specialized diagnostic tracking glove.</a:t>
            </a:r>
          </a:p>
        </p:txBody>
      </p:sp>
    </p:spTree>
    <p:extLst>
      <p:ext uri="{BB962C8B-B14F-4D97-AF65-F5344CB8AC3E}">
        <p14:creationId xmlns:p14="http://schemas.microsoft.com/office/powerpoint/2010/main" val="2579238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88F75-84F9-C768-B462-CE3EAF25A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SCREENSHOT OF RESULTS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676F82-AD2B-99CF-9DCF-AF5AF1D0A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286" y="1652868"/>
            <a:ext cx="2978948" cy="1565810"/>
          </a:xfrm>
        </p:spPr>
      </p:pic>
    </p:spTree>
    <p:extLst>
      <p:ext uri="{BB962C8B-B14F-4D97-AF65-F5344CB8AC3E}">
        <p14:creationId xmlns:p14="http://schemas.microsoft.com/office/powerpoint/2010/main" val="36886743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88F75-84F9-C768-B462-CE3EAF25A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E3798-EA46-831F-720E-F333BE3C0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3349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1056</Words>
  <Application>Microsoft Office PowerPoint</Application>
  <PresentationFormat>Widescreen</PresentationFormat>
  <Paragraphs>109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 TremorTrack – Low-Cost Parkinson’s Disease Hand Tremor Monitoring System</vt:lpstr>
      <vt:lpstr>PowerPoint Presentation</vt:lpstr>
      <vt:lpstr>PowerPoint Presentation</vt:lpstr>
      <vt:lpstr>PowerPoint Presentation</vt:lpstr>
      <vt:lpstr>FEASIBILITY</vt:lpstr>
      <vt:lpstr>PROBLEM SOLUTION</vt:lpstr>
      <vt:lpstr>COMMERCIAL VIABILITY</vt:lpstr>
      <vt:lpstr>TECHNOLOGY USED</vt:lpstr>
      <vt:lpstr>.</vt:lpstr>
      <vt:lpstr>RESEARCH CARRIED OUT</vt:lpstr>
      <vt:lpstr>PROTOTYPE/ POC DEVELOPED</vt:lpstr>
      <vt:lpstr>SCOPE FOR PATENTABILITY</vt:lpstr>
      <vt:lpstr>FUTURE PLANS</vt:lpstr>
      <vt:lpstr>ADD SCREENSHOT OF RESULTS</vt:lpstr>
      <vt:lpstr>DEMONSTRATION VIDEO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Varalatchoumy M</dc:creator>
  <cp:lastModifiedBy>Nisarga R</cp:lastModifiedBy>
  <cp:revision>10</cp:revision>
  <dcterms:created xsi:type="dcterms:W3CDTF">2023-01-09T14:49:23Z</dcterms:created>
  <dcterms:modified xsi:type="dcterms:W3CDTF">2026-06-12T04:22:41Z</dcterms:modified>
</cp:coreProperties>
</file>